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3048bfdc544653" /><Relationship Type="http://schemas.openxmlformats.org/officeDocument/2006/relationships/extended-properties" Target="/docProps/app.xml" Id="R6ee1203778b540a7" /><Relationship Type="http://schemas.openxmlformats.org/officeDocument/2006/relationships/officeDocument" Target="/ppt/presentation.xml" Id="R389e26c0d0f64d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fa415651ed4af1"/>
  </p:sldMasterIdLst>
  <p:notesMasterIdLst>
    <p:notesMasterId xmlns:r="http://schemas.openxmlformats.org/officeDocument/2006/relationships" r:id="R2352cc303436471a"/>
  </p:notesMasterIdLst>
  <p:sldIdLst>
    <p:sldId xmlns:r="http://schemas.openxmlformats.org/officeDocument/2006/relationships" id="256" r:id="R8d837db34c0d4b1b"/>
    <p:sldId xmlns:r="http://schemas.openxmlformats.org/officeDocument/2006/relationships" id="257" r:id="R611f1564c249473f"/>
    <p:sldId xmlns:r="http://schemas.openxmlformats.org/officeDocument/2006/relationships" id="258" r:id="R8fec5dcce86f4821"/>
    <p:sldId xmlns:r="http://schemas.openxmlformats.org/officeDocument/2006/relationships" id="259" r:id="R6074d809cb9f4fb3"/>
    <p:sldId xmlns:r="http://schemas.openxmlformats.org/officeDocument/2006/relationships" id="260" r:id="R298b9bac84774007"/>
    <p:sldId xmlns:r="http://schemas.openxmlformats.org/officeDocument/2006/relationships" id="261" r:id="R124844dce8de4ac0"/>
    <p:sldId xmlns:r="http://schemas.openxmlformats.org/officeDocument/2006/relationships" id="262" r:id="Ra4fa4347fb804ab2"/>
    <p:sldId xmlns:r="http://schemas.openxmlformats.org/officeDocument/2006/relationships" id="263" r:id="R5a2cb99b0dff401d"/>
    <p:sldId xmlns:r="http://schemas.openxmlformats.org/officeDocument/2006/relationships" id="264" r:id="Raf9dccbe3a94419b"/>
    <p:sldId xmlns:r="http://schemas.openxmlformats.org/officeDocument/2006/relationships" id="265" r:id="R7cb26c621d43485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b958d30d124a40" /><Relationship Type="http://schemas.openxmlformats.org/officeDocument/2006/relationships/slideMaster" Target="/ppt/slideMasters/slideMaster1.xml" Id="R6cfa415651ed4af1" /><Relationship Type="http://schemas.openxmlformats.org/officeDocument/2006/relationships/notesMaster" Target="/ppt/notesMasters/notesMaster1.xml" Id="R2352cc303436471a" /><Relationship Type="http://schemas.openxmlformats.org/officeDocument/2006/relationships/presProps" Target="/ppt/presProps.xml" Id="R6422b43dc3ad490e" /><Relationship Type="http://schemas.openxmlformats.org/officeDocument/2006/relationships/tableStyles" Target="/ppt/tableStyles.xml" Id="R49abf41541124ace" /><Relationship Type="http://schemas.openxmlformats.org/officeDocument/2006/relationships/slide" Target="/ppt/slides/slide1.xml" Id="R8d837db34c0d4b1b" /><Relationship Type="http://schemas.openxmlformats.org/officeDocument/2006/relationships/slide" Target="/ppt/slides/slide2.xml" Id="R611f1564c249473f" /><Relationship Type="http://schemas.openxmlformats.org/officeDocument/2006/relationships/slide" Target="/ppt/slides/slide3.xml" Id="R8fec5dcce86f4821" /><Relationship Type="http://schemas.openxmlformats.org/officeDocument/2006/relationships/slide" Target="/ppt/slides/slide4.xml" Id="R6074d809cb9f4fb3" /><Relationship Type="http://schemas.openxmlformats.org/officeDocument/2006/relationships/slide" Target="/ppt/slides/slide5.xml" Id="R298b9bac84774007" /><Relationship Type="http://schemas.openxmlformats.org/officeDocument/2006/relationships/slide" Target="/ppt/slides/slide6.xml" Id="R124844dce8de4ac0" /><Relationship Type="http://schemas.openxmlformats.org/officeDocument/2006/relationships/slide" Target="/ppt/slides/slide7.xml" Id="Ra4fa4347fb804ab2" /><Relationship Type="http://schemas.openxmlformats.org/officeDocument/2006/relationships/slide" Target="/ppt/slides/slide8.xml" Id="R5a2cb99b0dff401d" /><Relationship Type="http://schemas.openxmlformats.org/officeDocument/2006/relationships/slide" Target="/ppt/slides/slide9.xml" Id="Raf9dccbe3a94419b" /><Relationship Type="http://schemas.openxmlformats.org/officeDocument/2006/relationships/slide" Target="/ppt/slides/slide10.xml" Id="R7cb26c621d4348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427e51926b4b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427438c9be4415" /><Relationship Type="http://schemas.openxmlformats.org/officeDocument/2006/relationships/notesMaster" Target="/ppt/notesMasters/notesMaster1.xml" Id="R6ace7db2f3314a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875b6fd2784abf" /><Relationship Type="http://schemas.openxmlformats.org/officeDocument/2006/relationships/notesMaster" Target="/ppt/notesMasters/notesMaster1.xml" Id="R9fe8daba9a7447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68d3cb66bf4a6f" /><Relationship Type="http://schemas.openxmlformats.org/officeDocument/2006/relationships/notesMaster" Target="/ppt/notesMasters/notesMaster1.xml" Id="Ra5a7726052084c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6d308a84584d2b" /><Relationship Type="http://schemas.openxmlformats.org/officeDocument/2006/relationships/notesMaster" Target="/ppt/notesMasters/notesMaster1.xml" Id="R2db5a05d938b4a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0819e42f364b37" /><Relationship Type="http://schemas.openxmlformats.org/officeDocument/2006/relationships/notesMaster" Target="/ppt/notesMasters/notesMaster1.xml" Id="Re1691089bbec4e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7ea35a4a1e4eeb" /><Relationship Type="http://schemas.openxmlformats.org/officeDocument/2006/relationships/notesMaster" Target="/ppt/notesMasters/notesMaster1.xml" Id="Re215b6b9df5248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189930b6634a53" /><Relationship Type="http://schemas.openxmlformats.org/officeDocument/2006/relationships/notesMaster" Target="/ppt/notesMasters/notesMaster1.xml" Id="Re49c0304a2c543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f7f039e03346a2" /><Relationship Type="http://schemas.openxmlformats.org/officeDocument/2006/relationships/notesMaster" Target="/ppt/notesMasters/notesMaster1.xml" Id="Rb123fb914edc4f8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33695f453de4bd2" /><Relationship Type="http://schemas.openxmlformats.org/officeDocument/2006/relationships/notesMaster" Target="/ppt/notesMasters/notesMaster1.xml" Id="Rd5d775e06dea4f3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7e659981a234700" /><Relationship Type="http://schemas.openxmlformats.org/officeDocument/2006/relationships/notesMaster" Target="/ppt/notesMasters/notesMaster1.xml" Id="R2fafe6a3f20a48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Zeit: ca. 45 Sekunden.</a:t>
            </a:r>
          </a:p>
          <a:p xmlns:a="http://schemas.openxmlformats.org/drawingml/2006/main">
            <a:r>
              <a:t>Ich untersuche, wie gut sich stündliche Stromlast in Deutschland, Frankreich und Polen mit Wetter- und Kalenderdaten prognostizieren lässt.</a:t>
            </a:r>
          </a:p>
          <a:p xmlns:a="http://schemas.openxmlformats.org/drawingml/2006/main">
            <a:r>
              <a:t>Der Vortrag folgt den fünf QUA3CK-Phasen und endet mit einer einsatzfähigen Streamlit-Anwendung.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Zeit: ca. 75 Sekunden.</a:t>
            </a:r>
          </a:p>
          <a:p xmlns:a="http://schemas.openxmlformats.org/drawingml/2006/main">
            <a:r>
              <a:t>Der Wechsel von WasteWise zu GridCast ist transparent dokumentiert. Entscheidend ist: Forschungsfrage, Länder-Scope, Baselines, primäre Metrik und Zeit-Split wurden vor der finalen Auswertung festgelegt.</a:t>
            </a:r>
          </a:p>
          <a:p xmlns:a="http://schemas.openxmlformats.org/drawingml/2006/main">
            <a:r>
              <a:t>Makro-nMAE gewichtet die drei Länder gleich. Die praktische Zielmarke lag bei mindestens fünf Prozent Verbesserung gegenüber der Kalender-Baseline.</a:t>
            </a:r>
          </a:p>
          <a:p xmlns:a="http://schemas.openxmlformats.org/drawingml/2006/main">
            <a:r>
              <a:t>Quelle: notebooks/00_question_gridcast.ipynb und documents/QUA3CK/01-question/README.md.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Zeit: ca. 75 Sekunden.</a:t>
            </a:r>
          </a:p>
          <a:p xmlns:a="http://schemas.openxmlformats.org/drawingml/2006/main">
            <a:r>
              <a:t>OPSD-Last- und Wetterdaten wurden in UTC vereinheitlicht und mit lokalen Kalendermerkmalen ergänzt.</a:t>
            </a:r>
          </a:p>
          <a:p xmlns:a="http://schemas.openxmlformats.org/drawingml/2006/main">
            <a:r>
              <a:t>Von 131.472 möglichen Länder-Stunden bleiben 131.441. Es gibt keine doppelten Schlüssel und vollständige Wetterfeatures im Modellzeitraum.</a:t>
            </a:r>
          </a:p>
          <a:p xmlns:a="http://schemas.openxmlformats.org/drawingml/2006/main">
            <a:r>
              <a:t>Die EDA zeigt klare Tages- und Saisonprofile. Temperatur ist besonders für Frankreich wichtig und wirkt nichtlinear.</a:t>
            </a:r>
          </a:p>
          <a:p xmlns:a="http://schemas.openxmlformats.org/drawingml/2006/main">
            <a:r>
              <a:t>Quelle: notebooks/01_data_import_merge_eda.ipynb; Open Power System Data Time Series und Weather Data Packages.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Zeit: ca. 90 Sekunden.</a:t>
            </a:r>
          </a:p>
          <a:p xmlns:a="http://schemas.openxmlformats.org/drawingml/2006/main">
            <a:r>
              <a:t>A³ trennt drei Entscheidungen: Algorithmus, Attribute und Hyperparameter-Ausprägung.</a:t>
            </a:r>
          </a:p>
          <a:p xmlns:a="http://schemas.openxmlformats.org/drawingml/2006/main">
            <a:r>
              <a:t>Die Kalender-Baseline erreicht 5,76 Prozent. Ridge kommt auf 4,98 Prozent. Das beste HGB mit Feiertag und Wetter erreicht 3,31 Prozent und verbessert die Kalender-Baseline um 42,5 Prozent.</a:t>
            </a:r>
          </a:p>
          <a:p xmlns:a="http://schemas.openxmlformats.org/drawingml/2006/main">
            <a:r>
              <a:t>Die Gewinnerkonfiguration wurde danach eingefroren. 2019 spielte bei dieser Entscheidung keine Rolle.</a:t>
            </a:r>
          </a:p>
          <a:p xmlns:a="http://schemas.openxmlformats.org/drawingml/2006/main">
            <a:r>
              <a:t>Quelle: notebooks/02_a3_model_development.ipynb und reports/a3/a3_selection.json.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Zeit: ca. 75 Sekunden.</a:t>
            </a:r>
          </a:p>
          <a:p xmlns:a="http://schemas.openxmlformats.org/drawingml/2006/main">
            <a:r>
              <a:t>Für C wurde exakt die eingefrorene Konfiguration auf 2015 bis 2018 refittet. Danach wurde 2019 genau einmal geöffnet.</a:t>
            </a:r>
          </a:p>
          <a:p xmlns:a="http://schemas.openxmlformats.org/drawingml/2006/main">
            <a:r>
              <a:t>Das HGB erreicht 2,71 Prozent Makro-nMAE. Die Kalender-Baseline liegt bei 4,88 Prozent. Das entspricht 44,5 Prozent Verbesserung.</a:t>
            </a:r>
          </a:p>
          <a:p xmlns:a="http://schemas.openxmlformats.org/drawingml/2006/main">
            <a:r>
              <a:t>Damit sind die Generalisierungshypothese und das praktische Fünf-Prozent-Ziel klar bestätigt.</a:t>
            </a:r>
          </a:p>
          <a:p xmlns:a="http://schemas.openxmlformats.org/drawingml/2006/main">
            <a:r>
              <a:t>Quelle: notebooks/03_conclude_compare.ipynb und reports/c/c_conclusion.json.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Zeit: ca. 75 Sekunden.</a:t>
            </a:r>
          </a:p>
          <a:p xmlns:a="http://schemas.openxmlformats.org/drawingml/2006/main">
            <a:r>
              <a:t>Alle drei Länder liegen unter drei Prozent nMAE. Frankreich ist relativ am schwierigsten; besonders März und Frühling fallen auf.</a:t>
            </a:r>
          </a:p>
          <a:p xmlns:a="http://schemas.openxmlformats.org/drawingml/2006/main">
            <a:r>
              <a:t>Der Fehler sinkt von 3,31 Prozent auf der Validierung auf 2,71 Prozent im Test. Das ist ein positiver empirischer Befund, aber kein Beweis, dass jedes weitere Jahr automatisch hilft.</a:t>
            </a:r>
          </a:p>
          <a:p xmlns:a="http://schemas.openxmlformats.org/drawingml/2006/main">
            <a:r>
              <a:t>Reanalysewetter ist im Backtest bekannt. Für einen echten operativen Einsatz wären Wetterprognosen und laufendes Monitoring nötig.</a:t>
            </a:r>
          </a:p>
          <a:p xmlns:a="http://schemas.openxmlformats.org/drawingml/2006/main">
            <a:r>
              <a:t>Quelle: reports/c/test_metrics_by_country.csv und reports/c/validation_test_generalization.csv.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Zeit: ca. 75 Sekunden.</a:t>
            </a:r>
          </a:p>
          <a:p xmlns:a="http://schemas.openxmlformats.org/drawingml/2006/main">
            <a:r>
              <a:t>Die K-Phase überführt das Projekt in eine Streamlit-Anwendung mit vier klar getrennten Ansichten.</a:t>
            </a:r>
          </a:p>
          <a:p xmlns:a="http://schemas.openxmlformats.org/drawingml/2006/main">
            <a:r>
              <a:t>Methodisch wichtig: Der historische Backtest zeigt vorab berechnete C-Prognosen. Das später auf 2015 bis 2019 refittete App-Modell wird nicht verwendet, um 2019 rückwirkend besser aussehen zu lassen.</a:t>
            </a:r>
          </a:p>
          <a:p xmlns:a="http://schemas.openxmlformats.org/drawingml/2006/main">
            <a:r>
              <a:t>Die Zukunftsansicht ist eine transparente Was-wäre-wenn-Rechnung und wird entsprechend beschriftet.</a:t>
            </a:r>
          </a:p>
          <a:p xmlns:a="http://schemas.openxmlformats.org/drawingml/2006/main">
            <a:r>
              <a:t>Quelle: streamlit_app/app.py und documents/QUA3CK/05-knowledge-transfer/README.md.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Zeit: ca. 90 Sekunden.</a:t>
            </a:r>
          </a:p>
          <a:p xmlns:a="http://schemas.openxmlformats.org/drawingml/2006/main">
            <a:r>
              <a:t>Für ein gewähltes Datum werden Kalenderfeatures und ein typisches Wetterprofil aus der Klimatologie 1980 bis 2019 erzeugt. Die Temperaturabweichung wirkt vor der ML-Inferenz.</a:t>
            </a:r>
          </a:p>
          <a:p xmlns:a="http://schemas.openxmlformats.org/drawingml/2006/main">
            <a:r>
              <a:t>Nachfrageänderung und zusätzliche Rechenzentrumslast werden danach als explizite Strukturannahmen angewendet.</a:t>
            </a:r>
          </a:p>
          <a:p xmlns:a="http://schemas.openxmlformats.org/drawingml/2006/main">
            <a:r>
              <a:t>Das Beispielszenario erhöht die modellierte Spitzenlast um 10,24 Prozent. Es ist keine konkrete Prognose für 2030.</a:t>
            </a:r>
          </a:p>
          <a:p xmlns:a="http://schemas.openxmlformats.org/drawingml/2006/main">
            <a:r>
              <a:t>Der Risikoindikator bezeichnet nur die Wahrscheinlichkeit einer historischen nationalen Quantilsüberschreitung, ausdrücklich nicht die Wahrscheinlichkeit eines Blackouts.</a:t>
            </a:r>
          </a:p>
          <a:p xmlns:a="http://schemas.openxmlformats.org/drawingml/2006/main">
            <a:r>
              <a:t>Quelle: src/gridcast/scenario.py, src/gridcast/risk.py und reports/k/k_deployment.json.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Zeit: ca. 60 Sekunden.</a:t>
            </a:r>
          </a:p>
          <a:p xmlns:a="http://schemas.openxmlformats.org/drawingml/2006/main">
            <a:r>
              <a:t>Das finale Joblib-Artefakt ist rund 1,9 Megabyte groß, hat eine feste Prüfsumme und liegt im Repository.</a:t>
            </a:r>
          </a:p>
          <a:p xmlns:a="http://schemas.openxmlformats.org/drawingml/2006/main">
            <a:r>
              <a:t>Elf Funktionstests bestehen. Außerdem startet die App unter Streamlit 1.50 und Python 3.12; der Health-Endpunkt antwortet mit OK.</a:t>
            </a:r>
          </a:p>
          <a:p xmlns:a="http://schemas.openxmlformats.org/drawingml/2006/main">
            <a:r>
              <a:t>Das Repository ist für Streamlit Community Cloud vorbereitet. Nur die einmalige Aktivierung im persönlichen Streamlit-Konto bleibt als externer Schritt.</a:t>
            </a:r>
          </a:p>
          <a:p xmlns:a="http://schemas.openxmlformats.org/drawingml/2006/main">
            <a:r>
              <a:t>Quelle: reports/k/k_deployment.json, models/README.md und Streamlit Community Cloud Documentation.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Zeit: ca. 45 Sekunden.</a:t>
            </a:r>
          </a:p>
          <a:p xmlns:a="http://schemas.openxmlformats.org/drawingml/2006/main">
            <a:r>
              <a:t>Die Forschungsfrage kann positiv beantwortet werden: Das eingefrorene Modell generalisiert auf 2019 und schlägt die Kalender-Baseline deutlich.</a:t>
            </a:r>
          </a:p>
          <a:p xmlns:a="http://schemas.openxmlformats.org/drawingml/2006/main">
            <a:r>
              <a:t>Gleichzeitig begrenzt die Anwendung ihre Aussage: Historischer Backtest und Zukunftsszenario bleiben getrennt, und der Risikoindikator wird nicht als Blackout-Prognose ausgegeben.</a:t>
            </a:r>
          </a:p>
          <a:p xmlns:a="http://schemas.openxmlformats.org/drawingml/2006/main">
            <a:r>
              <a:t>Damit sind alle fünf QUA3CK-Phasen mit Code, Notebooks, Reports, Modell, App, Handout und Präsentation abgeschlossen.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8d25dc2f2843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ef8f46e7bf4a1a" /><Relationship Type="http://schemas.openxmlformats.org/officeDocument/2006/relationships/slideLayout" Target="/ppt/slideLayouts/slideLayout1.xml" Id="R5be94b2b98a84b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e94b2b98a84b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cffff08e784f55" /><Relationship Type="http://schemas.openxmlformats.org/officeDocument/2006/relationships/notesSlide" Target="/ppt/notesSlides/notesSlide1.xml" Id="R352964deca3747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48f8d585484c86" /><Relationship Type="http://schemas.openxmlformats.org/officeDocument/2006/relationships/notesSlide" Target="/ppt/notesSlides/notesSlide2.xml" Id="R76a272dbf60f4c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c537f24934316" /><Relationship Type="http://schemas.openxmlformats.org/officeDocument/2006/relationships/image" Target="/ppt/media/image.png" Id="R5a976365c9a64f8c" /><Relationship Type="http://schemas.openxmlformats.org/officeDocument/2006/relationships/notesSlide" Target="/ppt/notesSlides/notesSlide3.xml" Id="Rcc39c53caf0046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7bf974d3464864" /><Relationship Type="http://schemas.openxmlformats.org/officeDocument/2006/relationships/image" Target="/ppt/media/image2.png" Id="R862ca5f5171f40cc" /><Relationship Type="http://schemas.openxmlformats.org/officeDocument/2006/relationships/notesSlide" Target="/ppt/notesSlides/notesSlide4.xml" Id="R236c2aedf19a43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41ecdd77eb4bcb" /><Relationship Type="http://schemas.openxmlformats.org/officeDocument/2006/relationships/image" Target="/ppt/media/image3.png" Id="R8376025e83f7451c" /><Relationship Type="http://schemas.openxmlformats.org/officeDocument/2006/relationships/notesSlide" Target="/ppt/notesSlides/notesSlide5.xml" Id="R4020a7a6795544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ab2c32fce242cd" /><Relationship Type="http://schemas.openxmlformats.org/officeDocument/2006/relationships/image" Target="/ppt/media/image4.png" Id="R90d39d28d64e43dc" /><Relationship Type="http://schemas.openxmlformats.org/officeDocument/2006/relationships/notesSlide" Target="/ppt/notesSlides/notesSlide6.xml" Id="R6a64f7f6c0144b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e3892b88a245ac" /><Relationship Type="http://schemas.openxmlformats.org/officeDocument/2006/relationships/notesSlide" Target="/ppt/notesSlides/notesSlide7.xml" Id="R0f60bbb7ebc14d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d47d0ae9b3406f" /><Relationship Type="http://schemas.openxmlformats.org/officeDocument/2006/relationships/notesSlide" Target="/ppt/notesSlides/notesSlide8.xml" Id="R0e66fabe688347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d2376f6c6a428f" /><Relationship Type="http://schemas.openxmlformats.org/officeDocument/2006/relationships/notesSlide" Target="/ppt/notesSlides/notesSlide9.xml" Id="R34e4b0b5cf364a3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8abba7f4434df2" /><Relationship Type="http://schemas.openxmlformats.org/officeDocument/2006/relationships/notesSlide" Target="/ppt/notesSlides/notesSlide10.xml" Id="R19ac7db058a54c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DC7DE3-6C34-413A-A75D-5CB61EBC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164B2"/>
                </a:solidFill>
              </a:defRPr>
            </a:pPr>
            <a:r>
              <a:rPr sz="1050" b="1" i="0">
                <a:solidFill>
                  <a:srgbClr val="3164B2"/>
                </a:solidFill>
              </a:rPr>
              <a:t>DATA ANALYTICS UND BIG DATA</a:t>
            </a:r>
          </a:p>
        </p:txBody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EC57AEDD-7DFD-487B-AD28-01547BDC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0" b="1" i="0">
                <a:solidFill>
                  <a:srgbClr val="102A4C"/>
                </a:solidFill>
              </a:defRPr>
            </a:pPr>
            <a:r>
              <a:rPr sz="5700" b="1" i="0">
                <a:solidFill>
                  <a:srgbClr val="102A4C"/>
                </a:solidFill>
              </a:rPr>
              <a:t>GridCast</a:t>
            </a:r>
          </a:p>
          <a:p xmlns:a="http://schemas.openxmlformats.org/drawingml/2006/main">
            <a:pPr algn="l">
              <a:defRPr sz="5700" b="1" i="0">
                <a:solidFill>
                  <a:srgbClr val="102A4C"/>
                </a:solidFill>
              </a:defRPr>
            </a:pPr>
            <a:r>
              <a:rPr sz="5700" b="1" i="0">
                <a:solidFill>
                  <a:srgbClr val="102A4C"/>
                </a:solidFill>
              </a:rPr>
              <a:t>Europe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CC0233-F20E-4A3B-9A6D-B62930C0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09700"/>
            <a:ext cx="4000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799FAA-2475-43A3-A924-D887369A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01318"/>
                </a:solidFill>
              </a:defRPr>
            </a:pPr>
            <a:r>
              <a:rPr sz="1875" b="0" i="0">
                <a:solidFill>
                  <a:srgbClr val="101318"/>
                </a:solidFill>
              </a:rPr>
              <a:t>Stündliche Stromlastprognose und transparente Zukunftsszenarien für Deutschland, Frankreich und Polen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90EF11-C7ED-4541-BDAD-D25124DA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244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E6877"/>
                </a:solidFill>
              </a:defRPr>
            </a:pPr>
            <a:r>
              <a:rPr sz="1500" b="0" i="0">
                <a:solidFill>
                  <a:srgbClr val="5E6877"/>
                </a:solidFill>
              </a:rPr>
              <a:t>Tajan Biazevic</a:t>
            </a:r>
          </a:p>
          <a:p xmlns:a="http://schemas.openxmlformats.org/drawingml/2006/main">
            <a:pPr algn="l">
              <a:defRPr sz="1500" b="0" i="0">
                <a:solidFill>
                  <a:srgbClr val="5E6877"/>
                </a:solidFill>
              </a:defRPr>
            </a:pPr>
            <a:r>
              <a:rPr sz="1500" b="0" i="0">
                <a:solidFill>
                  <a:srgbClr val="5E6877"/>
                </a:solidFill>
              </a:rPr>
              <a:t>Matrikelnummer 10234562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A539D5-628B-4747-9764-B368BD63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244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0" i="0">
                <a:solidFill>
                  <a:srgbClr val="5E6877"/>
                </a:solidFill>
              </a:defRPr>
            </a:pPr>
            <a:r>
              <a:rPr sz="1500" b="0" i="0">
                <a:solidFill>
                  <a:srgbClr val="5E6877"/>
                </a:solidFill>
              </a:rPr>
              <a:t>QUA3CK-Prüfungsprojekt</a:t>
            </a:r>
          </a:p>
          <a:p xmlns:a="http://schemas.openxmlformats.org/drawingml/2006/main">
            <a:pPr algn="r">
              <a:defRPr sz="1500" b="0" i="0">
                <a:solidFill>
                  <a:srgbClr val="5E6877"/>
                </a:solidFill>
              </a:defRPr>
            </a:pPr>
            <a:r>
              <a:rPr sz="1500" b="0" i="0">
                <a:solidFill>
                  <a:srgbClr val="5E6877"/>
                </a:solidFill>
              </a:rPr>
              <a:t>28. Juli 2026</a:t>
            </a:r>
          </a:p>
        </p:txBody>
      </p:sp>
    </p:spTree>
    <p:extLst>
      <p:ext uri="{BB962C8B-B14F-4D97-AF65-F5344CB8AC3E}">
        <p14:creationId xmlns:p14="http://schemas.microsoft.com/office/powerpoint/2010/main" val="9454129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37AB23-7ACB-4685-BFAA-9A16B2D2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164B2"/>
                </a:solidFill>
              </a:defRPr>
            </a:pPr>
            <a:r>
              <a:rPr sz="975" b="1" i="0">
                <a:solidFill>
                  <a:srgbClr val="3164B2"/>
                </a:solidFill>
              </a:rPr>
              <a:t>Q - QUESTION</a:t>
            </a:r>
          </a:p>
        </p:txBody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F637194C-FE2D-4076-B8C3-A3A882B3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02A4C"/>
                </a:solidFill>
              </a:defRPr>
            </a:pPr>
            <a:r>
              <a:rPr sz="2850" b="1" i="0">
                <a:solidFill>
                  <a:srgbClr val="102A4C"/>
                </a:solidFill>
              </a:rPr>
              <a:t>Die Forschungsfrage wurde vor dem Test fixiert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9AC844-0933-43A9-BC16-558B2247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DC6B6F-C0E0-4193-BCC0-F06DA2E5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828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E6877"/>
                </a:solidFill>
              </a:defRPr>
            </a:pPr>
            <a:r>
              <a:rPr sz="825" b="0" i="0">
                <a:solidFill>
                  <a:srgbClr val="5E6877"/>
                </a:solidFill>
              </a:rPr>
              <a:t>Q  |  2/10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C16F67-BA76-4A2D-BB0C-661015E9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02A4C"/>
                </a:solidFill>
              </a:defRPr>
            </a:pPr>
            <a:r>
              <a:rPr sz="2175" b="1" i="0">
                <a:solidFill>
                  <a:srgbClr val="102A4C"/>
                </a:solidFill>
              </a:rPr>
              <a:t>Wie genau lässt sich die stündliche Stromlast ausgewählter europäischer Länder anhand historischer Last-, Wetter- und Kalenderdaten für einen chronologisch späteren Zeitraum prognostizieren?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F75D41-8D6D-4151-B9CA-EAB3733C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051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A78524-3266-470F-AE1D-01E4AE35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28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64B2"/>
          </a:solidFill>
          <a:ln xmlns:a="http://schemas.openxmlformats.org/drawingml/2006/main" w="9525">
            <a:solidFill>
              <a:srgbClr val="3164B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A612A3-30D9-4547-8F8D-9C97EA25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5E6877"/>
                </a:solidFill>
              </a:defRPr>
            </a:pPr>
            <a:r>
              <a:rPr sz="900" b="0" i="0">
                <a:solidFill>
                  <a:srgbClr val="5E6877"/>
                </a:solidFill>
              </a:rPr>
              <a:t>vor 22.07.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5E198B-2B26-4C22-9767-77048658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766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02A4C"/>
                </a:solidFill>
              </a:defRPr>
            </a:pPr>
            <a:r>
              <a:rPr sz="1500" b="1" i="0">
                <a:solidFill>
                  <a:srgbClr val="102A4C"/>
                </a:solidFill>
              </a:rPr>
              <a:t>WasteWise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6C2D01-20D8-4B20-A9D7-47B605E7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148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E6877"/>
                </a:solidFill>
              </a:defRPr>
            </a:pPr>
            <a:r>
              <a:rPr sz="1125" b="0" i="0">
                <a:solidFill>
                  <a:srgbClr val="5E6877"/>
                </a:solidFill>
              </a:rPr>
              <a:t>ursprüngliche Projektidee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7F8FCC-0456-4132-80D2-6D7DE78A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28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64B2"/>
          </a:solidFill>
          <a:ln xmlns:a="http://schemas.openxmlformats.org/drawingml/2006/main" w="9525">
            <a:solidFill>
              <a:srgbClr val="3164B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335FBA-AB89-44D7-95C4-427A58C3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33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5E6877"/>
                </a:solidFill>
              </a:defRPr>
            </a:pPr>
            <a:r>
              <a:rPr sz="900" b="0" i="0">
                <a:solidFill>
                  <a:srgbClr val="5E6877"/>
                </a:solidFill>
              </a:rPr>
              <a:t>22.07.2026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2E9501-4908-4B52-AF41-E0C7BBDC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766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02A4C"/>
                </a:solidFill>
              </a:defRPr>
            </a:pPr>
            <a:r>
              <a:rPr sz="1500" b="1" i="0">
                <a:solidFill>
                  <a:srgbClr val="102A4C"/>
                </a:solidFill>
              </a:rPr>
              <a:t>Pivot zu GridCast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A7F5D9-CE20-456A-B415-866EFB61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148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E6877"/>
                </a:solidFill>
              </a:defRPr>
            </a:pPr>
            <a:r>
              <a:rPr sz="1125" b="0" i="0">
                <a:solidFill>
                  <a:srgbClr val="5E6877"/>
                </a:solidFill>
              </a:rPr>
              <a:t>Scope DE / FR / PL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13D81E-1356-4D57-B966-79208933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028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64B2"/>
          </a:solidFill>
          <a:ln xmlns:a="http://schemas.openxmlformats.org/drawingml/2006/main" w="9525">
            <a:solidFill>
              <a:srgbClr val="3164B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F8EB95-10E8-4177-B195-C955B280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33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5E6877"/>
                </a:solidFill>
              </a:defRPr>
            </a:pPr>
            <a:r>
              <a:rPr sz="900" b="0" i="0">
                <a:solidFill>
                  <a:srgbClr val="5E6877"/>
                </a:solidFill>
              </a:rPr>
              <a:t>vor A³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A76863-483B-493B-95A5-AA54EDA7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766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02A4C"/>
                </a:solidFill>
              </a:defRPr>
            </a:pPr>
            <a:r>
              <a:rPr sz="1500" b="1" i="0">
                <a:solidFill>
                  <a:srgbClr val="102A4C"/>
                </a:solidFill>
              </a:rPr>
              <a:t>Experiment fixiert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D83D6F-F271-4B4C-8F17-92905DB2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148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E6877"/>
                </a:solidFill>
              </a:defRPr>
            </a:pPr>
            <a:r>
              <a:rPr sz="1125" b="0" i="0">
                <a:solidFill>
                  <a:srgbClr val="5E6877"/>
                </a:solidFill>
              </a:rPr>
              <a:t>2015-17 / 2018 / 2019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A0851F-6433-45A6-B6D0-FEE45268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72050"/>
            <a:ext cx="838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014F51-5991-465E-8682-D6623AB0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197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02A4C"/>
                </a:solidFill>
              </a:defRPr>
            </a:pPr>
            <a:r>
              <a:rPr sz="1650" b="1" i="0">
                <a:solidFill>
                  <a:srgbClr val="102A4C"/>
                </a:solidFill>
              </a:rPr>
              <a:t>Entscheidungsregel: Makro-nMAE auf 2018 wählt das Modell; 2019 bleibt bis C vollständig unangetastet.</a:t>
            </a:r>
          </a:p>
        </p:txBody>
      </p:sp>
    </p:spTree>
    <p:extLst>
      <p:ext uri="{BB962C8B-B14F-4D97-AF65-F5344CB8AC3E}">
        <p14:creationId xmlns:p14="http://schemas.microsoft.com/office/powerpoint/2010/main" val="5022264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4B087F-404F-4767-A37A-3E3CD2AC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164B2"/>
                </a:solidFill>
              </a:defRPr>
            </a:pPr>
            <a:r>
              <a:rPr sz="975" b="1" i="0">
                <a:solidFill>
                  <a:srgbClr val="3164B2"/>
                </a:solidFill>
              </a:rPr>
              <a:t>U - UNDERSTANDING THE DATA</a:t>
            </a:r>
          </a:p>
        </p:txBody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35D58D27-D471-471D-A07A-CB134EEC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02A4C"/>
                </a:solidFill>
              </a:defRPr>
            </a:pPr>
            <a:r>
              <a:rPr sz="2850" b="1" i="0">
                <a:solidFill>
                  <a:srgbClr val="102A4C"/>
                </a:solidFill>
              </a:rPr>
              <a:t>131.441 saubere Länder-Stunden tragen das Experiment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4336E3-2DD0-4997-B1C2-93D889BD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1DDA31-5467-4E3D-83BC-9DF04B95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828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E6877"/>
                </a:solidFill>
              </a:defRPr>
            </a:pPr>
            <a:r>
              <a:rPr sz="825" b="0" i="0">
                <a:solidFill>
                  <a:srgbClr val="5E6877"/>
                </a:solidFill>
              </a:rPr>
              <a:t>U  |  3/10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52AE2C-03BD-4DF2-93D4-EC34A030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164B2"/>
                </a:solidFill>
              </a:defRPr>
            </a:pPr>
            <a:r>
              <a:rPr sz="975" b="1" i="0">
                <a:solidFill>
                  <a:srgbClr val="3164B2"/>
                </a:solidFill>
              </a:rPr>
              <a:t>DATENQUALITÄT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51F0B4-1054-45B5-8CD0-47E6F05E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2571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3F1E0C-BD08-4E66-8905-2BA78752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02A4C"/>
                </a:solidFill>
              </a:defRPr>
            </a:pPr>
            <a:r>
              <a:rPr sz="3225" b="1" i="0">
                <a:solidFill>
                  <a:srgbClr val="102A4C"/>
                </a:solidFill>
              </a:rPr>
              <a:t>131.441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0C6081-7F69-44A4-BD81-0DF09A8E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877"/>
                </a:solidFill>
              </a:defRPr>
            </a:pPr>
            <a:r>
              <a:rPr sz="1275" b="0" i="0">
                <a:solidFill>
                  <a:srgbClr val="5E6877"/>
                </a:solidFill>
              </a:rPr>
              <a:t>nutzbare Stunden nach dem Join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8A0DC6-2B6B-4090-8AA2-8F7A1A69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2571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91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F330E8-C740-4DD4-AE08-95E4E73F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02A4C"/>
                </a:solidFill>
              </a:defRPr>
            </a:pPr>
            <a:r>
              <a:rPr sz="3225" b="1" i="0">
                <a:solidFill>
                  <a:srgbClr val="102A4C"/>
                </a:solidFill>
              </a:rPr>
              <a:t>31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53711C-D723-42C8-BD36-F561E222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877"/>
                </a:solidFill>
              </a:defRPr>
            </a:pPr>
            <a:r>
              <a:rPr sz="1275" b="0" i="0">
                <a:solidFill>
                  <a:srgbClr val="5E6877"/>
                </a:solidFill>
              </a:rPr>
              <a:t>entfernte fehlende Zielwerte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0B99FF-A1FF-40F4-B54D-4EEE5770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2571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C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8E68BA-1190-46B1-BA98-2D6FFF20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02A4C"/>
                </a:solidFill>
              </a:defRPr>
            </a:pPr>
            <a:r>
              <a:rPr sz="3225" b="1" i="0">
                <a:solidFill>
                  <a:srgbClr val="102A4C"/>
                </a:solidFill>
              </a:rPr>
              <a:t>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95AFC5-3E48-4135-91E0-D4EFC1A5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877"/>
                </a:solidFill>
              </a:defRPr>
            </a:pPr>
            <a:r>
              <a:rPr sz="1275" b="0" i="0">
                <a:solidFill>
                  <a:srgbClr val="5E6877"/>
                </a:solidFill>
              </a:rPr>
              <a:t>doppelte Land-Zeit-Schlüssel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976365c9a64f8c"/>
          <a:stretch xmlns:a="http://schemas.openxmlformats.org/drawingml/2006/main"/>
        </p:blipFill>
        <p:spPr>
          <a:xfrm xmlns:a="http://schemas.openxmlformats.org/drawingml/2006/main">
            <a:off x="3524250" y="1795913"/>
            <a:ext cx="8096250" cy="3590023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041AFB-94F6-4827-8F2F-D0B06CE0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734050"/>
            <a:ext cx="771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02A4C"/>
                </a:solidFill>
              </a:defRPr>
            </a:pPr>
            <a:r>
              <a:rPr sz="1500" b="1" i="0">
                <a:solidFill>
                  <a:srgbClr val="102A4C"/>
                </a:solidFill>
              </a:rPr>
              <a:t>Tages-, Wochen- und Saisonmuster sind deutlich; Temperatur wirkt länderabhängig und nichtlinear.</a:t>
            </a:r>
          </a:p>
        </p:txBody>
      </p:sp>
    </p:spTree>
    <p:extLst>
      <p:ext uri="{BB962C8B-B14F-4D97-AF65-F5344CB8AC3E}">
        <p14:creationId xmlns:p14="http://schemas.microsoft.com/office/powerpoint/2010/main" val="14171017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EFA485-4260-497F-A0AB-CF4C066C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164B2"/>
                </a:solidFill>
              </a:defRPr>
            </a:pPr>
            <a:r>
              <a:rPr sz="975" b="1" i="0">
                <a:solidFill>
                  <a:srgbClr val="3164B2"/>
                </a:solidFill>
              </a:rPr>
              <a:t>A³ - ALGORITHMUS, ATTRIBUTE, AUSPRÄGUNG</a:t>
            </a:r>
          </a:p>
        </p:txBody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29651B05-051F-444C-AF40-CEFB49E8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02A4C"/>
                </a:solidFill>
              </a:defRPr>
            </a:pPr>
            <a:r>
              <a:rPr sz="2850" b="1" i="0">
                <a:solidFill>
                  <a:srgbClr val="102A4C"/>
                </a:solidFill>
              </a:rPr>
              <a:t>Wetter plus nichtlineares Boosting gewinnt auf 2018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154DA7-D038-434E-A051-53B93263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DF2192-BA55-4EFC-8A66-F1CEECFA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828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E6877"/>
                </a:solidFill>
              </a:defRPr>
            </a:pPr>
            <a:r>
              <a:rPr sz="825" b="0" i="0">
                <a:solidFill>
                  <a:srgbClr val="5E6877"/>
                </a:solidFill>
              </a:rPr>
              <a:t>A³  |  4/10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2ca5f5171f40cc"/>
          <a:stretch xmlns:a="http://schemas.openxmlformats.org/drawingml/2006/main"/>
        </p:blipFill>
        <p:spPr>
          <a:xfrm xmlns:a="http://schemas.openxmlformats.org/drawingml/2006/main">
            <a:off x="342900" y="1847338"/>
            <a:ext cx="7905750" cy="383007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67CE2-35FC-446E-B647-4C990AA6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764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164B2"/>
                </a:solidFill>
              </a:defRPr>
            </a:pPr>
            <a:r>
              <a:rPr sz="975" b="1" i="0">
                <a:solidFill>
                  <a:srgbClr val="3164B2"/>
                </a:solidFill>
              </a:rPr>
              <a:t>EINGEFRORENE AUSWAHL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BB7C9C-35C6-4192-86CA-02FE8698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764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02A4C"/>
                </a:solidFill>
              </a:defRPr>
            </a:pPr>
            <a:r>
              <a:rPr sz="3600" b="1" i="0">
                <a:solidFill>
                  <a:srgbClr val="102A4C"/>
                </a:solidFill>
              </a:rPr>
              <a:t>3,31 %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CEB5F8-410D-4B75-85C3-8737DD02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86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6877"/>
                </a:solidFill>
              </a:defRPr>
            </a:pPr>
            <a:r>
              <a:rPr sz="1425" b="0" i="0">
                <a:solidFill>
                  <a:srgbClr val="5E6877"/>
                </a:solidFill>
              </a:rPr>
              <a:t>Makro-nMAE 2018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8DCC1A-5580-452F-AEE6-5E7D3D62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19450"/>
            <a:ext cx="2714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0ED4DE-A302-4BDC-A0B1-A087ADBB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29000"/>
            <a:ext cx="2857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318"/>
                </a:solidFill>
              </a:defRPr>
            </a:pPr>
            <a:r>
              <a:rPr sz="1350" b="0" i="0">
                <a:solidFill>
                  <a:srgbClr val="101318"/>
                </a:solidFill>
              </a:rPr>
              <a:t>Histogram Gradient Boosting</a:t>
            </a:r>
          </a:p>
          <a:p xmlns:a="http://schemas.openxmlformats.org/drawingml/2006/main">
            <a:pPr algn="l">
              <a:defRPr sz="1350" b="0" i="0">
                <a:solidFill>
                  <a:srgbClr val="101318"/>
                </a:solidFill>
              </a:defRPr>
            </a:pPr>
            <a:r>
              <a:rPr sz="1350" b="0" i="0">
                <a:solidFill>
                  <a:srgbClr val="101318"/>
                </a:solidFill>
              </a:rPr>
              <a:t>Kalender + Feiertag + Wetter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 i="0">
                <a:solidFill>
                  <a:srgbClr val="101318"/>
                </a:solidFill>
              </a:defRPr>
            </a:pPr>
            <a:r>
              <a:rPr sz="1350" b="0" i="0">
                <a:solidFill>
                  <a:srgbClr val="101318"/>
                </a:solidFill>
              </a:rPr>
              <a:t>Lernrate 0,1</a:t>
            </a:r>
          </a:p>
          <a:p xmlns:a="http://schemas.openxmlformats.org/drawingml/2006/main">
            <a:pPr algn="l">
              <a:defRPr sz="1350" b="0" i="0">
                <a:solidFill>
                  <a:srgbClr val="101318"/>
                </a:solidFill>
              </a:defRPr>
            </a:pPr>
            <a:r>
              <a:rPr sz="1350" b="0" i="0">
                <a:solidFill>
                  <a:srgbClr val="101318"/>
                </a:solidFill>
              </a:rPr>
              <a:t>127 Blattknoten</a:t>
            </a:r>
          </a:p>
          <a:p xmlns:a="http://schemas.openxmlformats.org/drawingml/2006/main">
            <a:pPr algn="l">
              <a:defRPr sz="1350" b="0" i="0">
                <a:solidFill>
                  <a:srgbClr val="101318"/>
                </a:solidFill>
              </a:defRPr>
            </a:pPr>
            <a:r>
              <a:rPr sz="1350" b="0" i="0">
                <a:solidFill>
                  <a:srgbClr val="101318"/>
                </a:solidFill>
              </a:rPr>
              <a:t>300 Iterationen</a:t>
            </a:r>
          </a:p>
          <a:p xmlns:a="http://schemas.openxmlformats.org/drawingml/2006/main">
            <a:pPr algn="l">
              <a:defRPr sz="1350" b="0" i="0">
                <a:solidFill>
                  <a:srgbClr val="101318"/>
                </a:solidFill>
              </a:defRPr>
            </a:pPr>
            <a:r>
              <a:rPr sz="1350" b="0" i="0">
                <a:solidFill>
                  <a:srgbClr val="101318"/>
                </a:solidFill>
              </a:rPr>
              <a:t>min. 80 Beobachtungen</a:t>
            </a:r>
          </a:p>
          <a:p xmlns:a="http://schemas.openxmlformats.org/drawingml/2006/main">
            <a:pPr algn="l">
              <a:defRPr sz="1350" b="0" i="0">
                <a:solidFill>
                  <a:srgbClr val="101318"/>
                </a:solidFill>
              </a:defRPr>
            </a:pPr>
            <a:r>
              <a:rPr sz="1350" b="0" i="0">
                <a:solidFill>
                  <a:srgbClr val="101318"/>
                </a:solidFill>
              </a:rPr>
              <a:t>L2 = 1,0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7B2AAB-7121-4C55-B5A3-F3FF9519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626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164B2"/>
                </a:solidFill>
              </a:defRPr>
            </a:pPr>
            <a:r>
              <a:rPr sz="1275" b="1" i="0">
                <a:solidFill>
                  <a:srgbClr val="3164B2"/>
                </a:solidFill>
              </a:rPr>
              <a:t>2019 wurde weder geladen noch optimiert.</a:t>
            </a:r>
          </a:p>
        </p:txBody>
      </p:sp>
    </p:spTree>
    <p:extLst>
      <p:ext uri="{BB962C8B-B14F-4D97-AF65-F5344CB8AC3E}">
        <p14:creationId xmlns:p14="http://schemas.microsoft.com/office/powerpoint/2010/main" val="8058769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6DC295-E8DB-423A-97E6-0B8E5D40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164B2"/>
                </a:solidFill>
              </a:defRPr>
            </a:pPr>
            <a:r>
              <a:rPr sz="975" b="1" i="0">
                <a:solidFill>
                  <a:srgbClr val="3164B2"/>
                </a:solidFill>
              </a:rPr>
              <a:t>C - CONCLUDE &amp; COMPARE</a:t>
            </a:r>
          </a:p>
        </p:txBody>
      </p:sp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C6D37DD3-F5E5-4BBD-9E51-0752A949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02A4C"/>
                </a:solidFill>
              </a:defRPr>
            </a:pPr>
            <a:r>
              <a:rPr sz="2850" b="1" i="0">
                <a:solidFill>
                  <a:srgbClr val="102A4C"/>
                </a:solidFill>
              </a:rPr>
              <a:t>Der unangetastete Test bestätigt den ML-Mehrwert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84A293-98BD-4062-A609-21492804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E71D99-7339-474E-975C-D7E12AFB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828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E6877"/>
                </a:solidFill>
              </a:defRPr>
            </a:pPr>
            <a:r>
              <a:rPr sz="825" b="0" i="0">
                <a:solidFill>
                  <a:srgbClr val="5E6877"/>
                </a:solidFill>
              </a:rPr>
              <a:t>C  |  5/10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76025e83f7451c"/>
          <a:stretch xmlns:a="http://schemas.openxmlformats.org/drawingml/2006/main"/>
        </p:blipFill>
        <p:spPr>
          <a:xfrm xmlns:a="http://schemas.openxmlformats.org/drawingml/2006/main">
            <a:off x="342900" y="1764028"/>
            <a:ext cx="7905750" cy="390144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8BC94F-6488-4459-A79B-AE2E5DDF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954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9E4D48-87B4-48A5-BC41-194BE568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78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02A4C"/>
                </a:solidFill>
              </a:defRPr>
            </a:pPr>
            <a:r>
              <a:rPr sz="3225" b="1" i="0">
                <a:solidFill>
                  <a:srgbClr val="102A4C"/>
                </a:solidFill>
              </a:rPr>
              <a:t>2,71 %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2514BF-F6F2-4E67-A0FA-5CF62927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193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877"/>
                </a:solidFill>
              </a:defRPr>
            </a:pPr>
            <a:r>
              <a:rPr sz="1275" b="0" i="0">
                <a:solidFill>
                  <a:srgbClr val="5E6877"/>
                </a:solidFill>
              </a:rPr>
              <a:t>Makro-nMAE im Testjahr 2019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789545-B11B-4940-B919-E9364593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C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7B71DD-C44C-4541-BFAB-AF7D9443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099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02A4C"/>
                </a:solidFill>
              </a:defRPr>
            </a:pPr>
            <a:r>
              <a:rPr sz="3225" b="1" i="0">
                <a:solidFill>
                  <a:srgbClr val="102A4C"/>
                </a:solidFill>
              </a:rPr>
              <a:t>44,5 %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3208B4-3404-4039-8F88-9B1DF982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814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877"/>
                </a:solidFill>
              </a:defRPr>
            </a:pPr>
            <a:r>
              <a:rPr sz="1275" b="0" i="0">
                <a:solidFill>
                  <a:srgbClr val="5E6877"/>
                </a:solidFill>
              </a:rPr>
              <a:t>besser als Kalender-Baseline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6947F0-B0E0-41CC-B477-C5260BEF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196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91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4F26F6-BEF5-4F1D-9E81-110667AC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720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02A4C"/>
                </a:solidFill>
              </a:defRPr>
            </a:pPr>
            <a:r>
              <a:rPr sz="3225" b="1" i="0">
                <a:solidFill>
                  <a:srgbClr val="102A4C"/>
                </a:solidFill>
              </a:rPr>
              <a:t>15,64 %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9E1687-3ECE-4088-A346-15811B24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5435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877"/>
                </a:solidFill>
              </a:defRPr>
            </a:pPr>
            <a:r>
              <a:rPr sz="1275" b="0" i="0">
                <a:solidFill>
                  <a:srgbClr val="5E6877"/>
                </a:solidFill>
              </a:rPr>
              <a:t>Ländermittelwert als schwache Referenz</a:t>
            </a:r>
          </a:p>
        </p:txBody>
      </p:sp>
    </p:spTree>
    <p:extLst>
      <p:ext uri="{BB962C8B-B14F-4D97-AF65-F5344CB8AC3E}">
        <p14:creationId xmlns:p14="http://schemas.microsoft.com/office/powerpoint/2010/main" val="10638870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29E3C0-FF90-453A-9440-48417C1E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164B2"/>
                </a:solidFill>
              </a:defRPr>
            </a:pPr>
            <a:r>
              <a:rPr sz="975" b="1" i="0">
                <a:solidFill>
                  <a:srgbClr val="3164B2"/>
                </a:solidFill>
              </a:rPr>
              <a:t>C - EINORDNUNG</a:t>
            </a:r>
          </a:p>
        </p:txBody>
      </p:sp>
      <p:sp>
        <p:nvSpPr>
          <p:cNvPr id="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1921D2A8-9844-47FA-9FAE-C605D348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02A4C"/>
                </a:solidFill>
              </a:defRPr>
            </a:pPr>
            <a:r>
              <a:rPr sz="2850" b="1" i="0">
                <a:solidFill>
                  <a:srgbClr val="102A4C"/>
                </a:solidFill>
              </a:rPr>
              <a:t>Der Fehler sinkt in allen drei Ländern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C06028-E7DE-48EC-BAE0-11CB76F1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680A3-0EAB-4C2A-98A9-00A8506D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828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E6877"/>
                </a:solidFill>
              </a:defRPr>
            </a:pPr>
            <a:r>
              <a:rPr sz="825" b="0" i="0">
                <a:solidFill>
                  <a:srgbClr val="5E6877"/>
                </a:solidFill>
              </a:rPr>
              <a:t>C  |  6/10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d39d28d64e43dc"/>
          <a:stretch xmlns:a="http://schemas.openxmlformats.org/drawingml/2006/main"/>
        </p:blipFill>
        <p:spPr>
          <a:xfrm xmlns:a="http://schemas.openxmlformats.org/drawingml/2006/main">
            <a:off x="400050" y="1837000"/>
            <a:ext cx="7239000" cy="356499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F97A0D-CFFC-4A6D-8573-47433242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164B2"/>
                </a:solidFill>
              </a:defRPr>
            </a:pPr>
            <a:r>
              <a:rPr sz="1350" b="1" i="0">
                <a:solidFill>
                  <a:srgbClr val="3164B2"/>
                </a:solidFill>
              </a:rPr>
              <a:t>nMAE 2019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771E59-66EE-4C4D-B4F4-A3F41D1E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717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4C"/>
                </a:solidFill>
              </a:defRPr>
            </a:pPr>
            <a:r>
              <a:rPr sz="2025" b="1" i="0">
                <a:solidFill>
                  <a:srgbClr val="102A4C"/>
                </a:solidFill>
              </a:rPr>
              <a:t>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06B412-B9CD-44B2-BEE9-09591B29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717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164B2"/>
                </a:solidFill>
              </a:defRPr>
            </a:pPr>
            <a:r>
              <a:rPr sz="2025" b="1" i="0">
                <a:solidFill>
                  <a:srgbClr val="3164B2"/>
                </a:solidFill>
              </a:rPr>
              <a:t>2,49 %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66FB43-FC13-4B88-A818-2B1FFEE2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812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877"/>
                </a:solidFill>
              </a:defRPr>
            </a:pPr>
            <a:r>
              <a:rPr sz="1200" b="0" i="0">
                <a:solidFill>
                  <a:srgbClr val="5E6877"/>
                </a:solidFill>
              </a:rPr>
              <a:t>niedrigster Fehler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7FC459-FCE9-4448-AEDC-F10CE363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004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4C"/>
                </a:solidFill>
              </a:defRPr>
            </a:pPr>
            <a:r>
              <a:rPr sz="2025" b="1" i="0">
                <a:solidFill>
                  <a:srgbClr val="102A4C"/>
                </a:solidFill>
              </a:rPr>
              <a:t>FR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2EE8E7-B968-4D3F-8501-758869BD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004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164B2"/>
                </a:solidFill>
              </a:defRPr>
            </a:pPr>
            <a:r>
              <a:rPr sz="2025" b="1" i="0">
                <a:solidFill>
                  <a:srgbClr val="3164B2"/>
                </a:solidFill>
              </a:rPr>
              <a:t>2,91 %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EBF863-667E-4061-B55D-876BE0DA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099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877"/>
                </a:solidFill>
              </a:defRPr>
            </a:pPr>
            <a:r>
              <a:rPr sz="1200" b="0" i="0">
                <a:solidFill>
                  <a:srgbClr val="5E6877"/>
                </a:solidFill>
              </a:rPr>
              <a:t>März/Frühling auffällig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AEECEA-5674-4E11-9026-254F2A99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291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4C"/>
                </a:solidFill>
              </a:defRPr>
            </a:pPr>
            <a:r>
              <a:rPr sz="2025" b="1" i="0">
                <a:solidFill>
                  <a:srgbClr val="102A4C"/>
                </a:solidFill>
              </a:rPr>
              <a:t>PL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2B4822-0AAC-49C7-8D1B-EF0CC427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291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164B2"/>
                </a:solidFill>
              </a:defRPr>
            </a:pPr>
            <a:r>
              <a:rPr sz="2025" b="1" i="0">
                <a:solidFill>
                  <a:srgbClr val="3164B2"/>
                </a:solidFill>
              </a:rPr>
              <a:t>2,71 %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94FCB3-B4AF-4A99-A038-3DB795F8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386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877"/>
                </a:solidFill>
              </a:defRPr>
            </a:pPr>
            <a:r>
              <a:rPr sz="1200" b="0" i="0">
                <a:solidFill>
                  <a:srgbClr val="5E6877"/>
                </a:solidFill>
              </a:rPr>
              <a:t>stabile Generalisierung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780381-C1E7-4A98-BEE6-9A2BA51A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334000"/>
            <a:ext cx="342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B493D8-CFE5-483F-89FE-F2523F21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534025"/>
            <a:ext cx="3009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2A4C"/>
                </a:solidFill>
              </a:defRPr>
            </a:pPr>
            <a:r>
              <a:rPr sz="1275" b="1" i="0">
                <a:solidFill>
                  <a:srgbClr val="102A4C"/>
                </a:solidFill>
              </a:rPr>
              <a:t>Mehr Trainingsdaten helfen hier empirisch - aber nicht zwingend monoton in jedem künftigen Jahr.</a:t>
            </a:r>
          </a:p>
        </p:txBody>
      </p:sp>
    </p:spTree>
    <p:extLst>
      <p:ext uri="{BB962C8B-B14F-4D97-AF65-F5344CB8AC3E}">
        <p14:creationId xmlns:p14="http://schemas.microsoft.com/office/powerpoint/2010/main" val="2276108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45873E-DEAF-4F67-BE27-27A50F07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164B2"/>
                </a:solidFill>
              </a:defRPr>
            </a:pPr>
            <a:r>
              <a:rPr sz="975" b="1" i="0">
                <a:solidFill>
                  <a:srgbClr val="3164B2"/>
                </a:solidFill>
              </a:rPr>
              <a:t>K - KNOWLEDGE TRANSFER</a:t>
            </a:r>
          </a:p>
        </p:txBody>
      </p:sp>
      <p:sp>
        <p:nvSpPr>
          <p:cNvPr id="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E1E356C6-31F3-4C3B-B84E-FEB3F864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02A4C"/>
                </a:solidFill>
              </a:defRPr>
            </a:pPr>
            <a:r>
              <a:rPr sz="2850" b="1" i="0">
                <a:solidFill>
                  <a:srgbClr val="102A4C"/>
                </a:solidFill>
              </a:rPr>
              <a:t>Vier Ansichten trennen Evidenz, Szenario und Methodik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2BAE50-9DE3-49E8-BCC7-2077FA05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F4C857-5FCC-4753-A2EC-960340F5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828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E6877"/>
                </a:solidFill>
              </a:defRPr>
            </a:pPr>
            <a:r>
              <a:rPr sz="825" b="0" i="0">
                <a:solidFill>
                  <a:srgbClr val="5E6877"/>
                </a:solidFill>
              </a:rPr>
              <a:t>K  |  7/10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86D089-8634-4250-B73B-A7BD3581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3164B2"/>
                </a:solidFill>
              </a:defRPr>
            </a:pPr>
            <a:r>
              <a:rPr sz="2250" b="1" i="0">
                <a:solidFill>
                  <a:srgbClr val="3164B2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B026C-50C6-4E17-ADA8-6D688074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621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B54336-E76E-482E-BD1C-991D34F7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383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A4C"/>
                </a:solidFill>
              </a:defRPr>
            </a:pPr>
            <a:r>
              <a:rPr sz="1800" b="1" i="0">
                <a:solidFill>
                  <a:srgbClr val="102A4C"/>
                </a:solidFill>
              </a:rPr>
              <a:t>Überblick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882E35-4407-4380-8239-D5553407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76400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318"/>
                </a:solidFill>
              </a:defRPr>
            </a:pPr>
            <a:r>
              <a:rPr sz="1350" b="0" i="0">
                <a:solidFill>
                  <a:srgbClr val="101318"/>
                </a:solidFill>
              </a:rPr>
              <a:t>Forschungsfrage und Kernergebnisse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F5AB16-DFF9-4809-8EF5-DC00A634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7640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877"/>
                </a:solidFill>
              </a:defRPr>
            </a:pPr>
            <a:r>
              <a:rPr sz="1275" b="0" i="0">
                <a:solidFill>
                  <a:srgbClr val="5E6877"/>
                </a:solidFill>
              </a:rPr>
              <a:t>C-/K-Reports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137AA4-E7FC-42EB-BCB9-0FBAA19A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3164B2"/>
                </a:solidFill>
              </a:defRPr>
            </a:pPr>
            <a:r>
              <a:rPr sz="2250" b="1" i="0">
                <a:solidFill>
                  <a:srgbClr val="3164B2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E3136D-4EF2-4017-8C4C-2662D7D0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289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9DC028-F216-4557-9D06-33237629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A4C"/>
                </a:solidFill>
              </a:defRPr>
            </a:pPr>
            <a:r>
              <a:rPr sz="1800" b="1" i="0">
                <a:solidFill>
                  <a:srgbClr val="102A4C"/>
                </a:solidFill>
              </a:rPr>
              <a:t>Historischer Backtest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9256B9-4999-42B6-B999-25B7B5AF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43200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318"/>
                </a:solidFill>
              </a:defRPr>
            </a:pPr>
            <a:r>
              <a:rPr sz="1350" b="0" i="0">
                <a:solidFill>
                  <a:srgbClr val="101318"/>
                </a:solidFill>
              </a:rPr>
              <a:t>Istwert, HGB und Kalender-Baseline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327A3E-8E1A-493D-937E-81C4230F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4320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877"/>
                </a:solidFill>
              </a:defRPr>
            </a:pPr>
            <a:r>
              <a:rPr sz="1275" b="0" i="0">
                <a:solidFill>
                  <a:srgbClr val="5E6877"/>
                </a:solidFill>
              </a:rPr>
              <a:t>Out-of-sample 2019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2AFEEB-550D-4B9C-BBE6-B3D92C4E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3164B2"/>
                </a:solidFill>
              </a:defRPr>
            </a:pPr>
            <a:r>
              <a:rPr sz="2250" b="1" i="0">
                <a:solidFill>
                  <a:srgbClr val="3164B2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49E3E2-9017-432E-9623-7B65C409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957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F69C15-139F-4BDD-9D6F-E99CE4C8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719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A4C"/>
                </a:solidFill>
              </a:defRPr>
            </a:pPr>
            <a:r>
              <a:rPr sz="1800" b="1" i="0">
                <a:solidFill>
                  <a:srgbClr val="102A4C"/>
                </a:solidFill>
              </a:rPr>
              <a:t>Zukunftsszenario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09BD41-7795-490A-A0CB-3A060CA4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10000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318"/>
                </a:solidFill>
              </a:defRPr>
            </a:pPr>
            <a:r>
              <a:rPr sz="1350" b="0" i="0">
                <a:solidFill>
                  <a:srgbClr val="101318"/>
                </a:solidFill>
              </a:rPr>
              <a:t>Temperatur, Nachfrage und Rechenzentren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6DB6DF-83AC-4EAD-B676-9B2BAD17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1000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877"/>
                </a:solidFill>
              </a:defRPr>
            </a:pPr>
            <a:r>
              <a:rPr sz="1275" b="0" i="0">
                <a:solidFill>
                  <a:srgbClr val="5E6877"/>
                </a:solidFill>
              </a:rPr>
              <a:t>App-Modell + Klimatologie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E057A2-5BCC-49A7-B3AA-9EEA2956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3164B2"/>
                </a:solidFill>
              </a:defRPr>
            </a:pPr>
            <a:r>
              <a:rPr sz="2250" b="1" i="0">
                <a:solidFill>
                  <a:srgbClr val="3164B2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D2F69B-3D6C-42FB-8F44-837030DE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3B9CFB-39B6-4842-931F-54FF51B2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387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A4C"/>
                </a:solidFill>
              </a:defRPr>
            </a:pPr>
            <a:r>
              <a:rPr sz="1800" b="1" i="0">
                <a:solidFill>
                  <a:srgbClr val="102A4C"/>
                </a:solidFill>
              </a:rPr>
              <a:t>Methodik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EC173C-36E7-4C14-A02E-B8FA9D7B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76800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318"/>
                </a:solidFill>
              </a:defRPr>
            </a:pPr>
            <a:r>
              <a:rPr sz="1350" b="0" i="0">
                <a:solidFill>
                  <a:srgbClr val="101318"/>
                </a:solidFill>
              </a:rPr>
              <a:t>QUA3CK, Modellvergleich und Grenzen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FC9478-BC45-4E0A-88BE-997F93B6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87680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877"/>
                </a:solidFill>
              </a:defRPr>
            </a:pPr>
            <a:r>
              <a:rPr sz="1275" b="0" i="0">
                <a:solidFill>
                  <a:srgbClr val="5E6877"/>
                </a:solidFill>
              </a:rPr>
              <a:t>versionierte Dokumentation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CBDAB7-41C8-4153-A24B-D81A6FDE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62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F2D795-944D-4294-A6CB-EE1CF78F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91225"/>
            <a:ext cx="1017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02A4C"/>
                </a:solidFill>
              </a:defRPr>
            </a:pPr>
            <a:r>
              <a:rPr sz="1275" b="1" i="0">
                <a:solidFill>
                  <a:srgbClr val="102A4C"/>
                </a:solidFill>
              </a:rPr>
              <a:t>Wichtig: Der Backtest zeigt das C-Modell; das auf 2015-2019 refittete App-Modell wird dort nicht rückwirkend bewertet.</a:t>
            </a:r>
          </a:p>
        </p:txBody>
      </p:sp>
    </p:spTree>
    <p:extLst>
      <p:ext uri="{BB962C8B-B14F-4D97-AF65-F5344CB8AC3E}">
        <p14:creationId xmlns:p14="http://schemas.microsoft.com/office/powerpoint/2010/main" val="18484502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518276-51B3-4372-B6F7-CEDBD6B5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164B2"/>
                </a:solidFill>
              </a:defRPr>
            </a:pPr>
            <a:r>
              <a:rPr sz="975" b="1" i="0">
                <a:solidFill>
                  <a:srgbClr val="3164B2"/>
                </a:solidFill>
              </a:rPr>
              <a:t>K - ZUKUNFTSSZENARIO</a:t>
            </a:r>
          </a:p>
        </p:txBody>
      </p:sp>
      <p:sp>
        <p:nvSpPr>
          <p:cNvPr id="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88678478-BDB8-4E49-A1FC-B1951393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02A4C"/>
                </a:solidFill>
              </a:defRPr>
            </a:pPr>
            <a:r>
              <a:rPr sz="2850" b="1" i="0">
                <a:solidFill>
                  <a:srgbClr val="102A4C"/>
                </a:solidFill>
              </a:rPr>
              <a:t>Annahmen bleiben sichtbar und getrennt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DF7A76-170B-41F8-A753-C215C9F7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8DD4FB-E30E-467D-8ADA-2DACE023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828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E6877"/>
                </a:solidFill>
              </a:defRPr>
            </a:pPr>
            <a:r>
              <a:rPr sz="825" b="0" i="0">
                <a:solidFill>
                  <a:srgbClr val="5E6877"/>
                </a:solidFill>
              </a:rPr>
              <a:t>K  |  8/10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6CDCFF-C2D7-4280-9249-4CE43E74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3830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3164B2"/>
                </a:solidFill>
              </a:defRPr>
            </a:pPr>
            <a:r>
              <a:rPr sz="2100" b="1" i="0">
                <a:solidFill>
                  <a:srgbClr val="3164B2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04D3A1-4012-4613-AC2B-F058A9EB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2A4C"/>
                </a:solidFill>
              </a:defRPr>
            </a:pPr>
            <a:r>
              <a:rPr sz="1575" b="1" i="0">
                <a:solidFill>
                  <a:srgbClr val="102A4C"/>
                </a:solidFill>
              </a:rPr>
              <a:t>Datum + Land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57E04F-83F8-4686-B0FA-4EB15E96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877"/>
                </a:solidFill>
              </a:defRPr>
            </a:pPr>
            <a:r>
              <a:rPr sz="1200" b="0" i="0">
                <a:solidFill>
                  <a:srgbClr val="5E6877"/>
                </a:solidFill>
              </a:rPr>
              <a:t>lokale Kalendermerkmale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AE1532-0064-49D8-905A-46FEB622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762125"/>
            <a:ext cx="33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CBD2DC"/>
                </a:solidFill>
              </a:defRPr>
            </a:pPr>
            <a:r>
              <a:rPr sz="2100" b="0" i="0">
                <a:solidFill>
                  <a:srgbClr val="CBD2DC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DB0CB5-AA09-48F9-9DCC-91244CA7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63830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3164B2"/>
                </a:solidFill>
              </a:defRPr>
            </a:pPr>
            <a:r>
              <a:rPr sz="2100" b="1" i="0">
                <a:solidFill>
                  <a:srgbClr val="3164B2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8C7A17-23EB-4DA0-A05B-FB985C34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657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2A4C"/>
                </a:solidFill>
              </a:defRPr>
            </a:pPr>
            <a:r>
              <a:rPr sz="1575" b="1" i="0">
                <a:solidFill>
                  <a:srgbClr val="102A4C"/>
                </a:solidFill>
              </a:rPr>
              <a:t>Typisches Wetter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9B18B1-8558-4500-B5A0-A46A4EBD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0383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877"/>
                </a:solidFill>
              </a:defRPr>
            </a:pPr>
            <a:r>
              <a:rPr sz="1200" b="0" i="0">
                <a:solidFill>
                  <a:srgbClr val="5E6877"/>
                </a:solidFill>
              </a:rPr>
              <a:t>Median 1980-2019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16CAAC-B485-45B1-999F-F05FF577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762125"/>
            <a:ext cx="33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CBD2DC"/>
                </a:solidFill>
              </a:defRPr>
            </a:pPr>
            <a:r>
              <a:rPr sz="2100" b="0" i="0">
                <a:solidFill>
                  <a:srgbClr val="CBD2DC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00A6B3-FB27-4BB1-8FCC-461A1383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3830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3164B2"/>
                </a:solidFill>
              </a:defRPr>
            </a:pPr>
            <a:r>
              <a:rPr sz="2100" b="1" i="0">
                <a:solidFill>
                  <a:srgbClr val="3164B2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D5CD94-356F-4A8A-912C-9DD45656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57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2A4C"/>
                </a:solidFill>
              </a:defRPr>
            </a:pPr>
            <a:r>
              <a:rPr sz="1575" b="1" i="0">
                <a:solidFill>
                  <a:srgbClr val="102A4C"/>
                </a:solidFill>
              </a:rPr>
              <a:t>ML-Inferenz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339A66-CB51-4DEF-8A36-F9D64357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383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877"/>
                </a:solidFill>
              </a:defRPr>
            </a:pPr>
            <a:r>
              <a:rPr sz="1200" b="0" i="0">
                <a:solidFill>
                  <a:srgbClr val="5E6877"/>
                </a:solidFill>
              </a:rPr>
              <a:t>24-Stunden-Grundprofil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4E44D6-395D-4F3D-9631-7F6FE882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762125"/>
            <a:ext cx="33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CBD2DC"/>
                </a:solidFill>
              </a:defRPr>
            </a:pPr>
            <a:r>
              <a:rPr sz="2100" b="0" i="0">
                <a:solidFill>
                  <a:srgbClr val="CBD2DC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3C12ED-880E-49E3-B542-D02E0515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3830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3164B2"/>
                </a:solidFill>
              </a:defRPr>
            </a:pPr>
            <a:r>
              <a:rPr sz="2100" b="1" i="0">
                <a:solidFill>
                  <a:srgbClr val="3164B2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C9B5AC-437A-42B4-97A0-BFDF8399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657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2A4C"/>
                </a:solidFill>
              </a:defRPr>
            </a:pPr>
            <a:r>
              <a:rPr sz="1575" b="1" i="0">
                <a:solidFill>
                  <a:srgbClr val="102A4C"/>
                </a:solidFill>
              </a:rPr>
              <a:t>Strukturannahmen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C983DA-F361-4A87-8284-D9D92F0E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0383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877"/>
                </a:solidFill>
              </a:defRPr>
            </a:pPr>
            <a:r>
              <a:rPr sz="1200" b="0" i="0">
                <a:solidFill>
                  <a:srgbClr val="5E6877"/>
                </a:solidFill>
              </a:rPr>
              <a:t>Nachfrage + Rechenzentren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93BFB4-D52C-45A8-8B75-2D250634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108204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A507CF-8121-4294-9F9E-09C173CC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813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164B2"/>
                </a:solidFill>
              </a:defRPr>
            </a:pPr>
            <a:r>
              <a:rPr sz="1050" b="1" i="0">
                <a:solidFill>
                  <a:srgbClr val="3164B2"/>
                </a:solidFill>
              </a:rPr>
              <a:t>BEISPIELSZENARIO · DE · 15.01.2030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BB55AB-4ACA-4C3B-A021-018EC7DD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004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02A4C"/>
                </a:solidFill>
              </a:defRPr>
            </a:pPr>
            <a:r>
              <a:rPr sz="1950" b="1" i="0">
                <a:solidFill>
                  <a:srgbClr val="102A4C"/>
                </a:solidFill>
              </a:rPr>
              <a:t>+2 °C  ·  +10 % Nachfrage  ·  +500 MW Rechenzentren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C478F5-3475-4E98-AE72-C30AA1EC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19450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2100" b="1" i="0">
                <a:solidFill>
                  <a:srgbClr val="5E6877"/>
                </a:solidFill>
              </a:defRPr>
            </a:pPr>
            <a:r>
              <a:rPr sz="2100" b="1" i="0">
                <a:solidFill>
                  <a:srgbClr val="5E6877"/>
                </a:solidFill>
              </a:rPr>
              <a:t>75.014 MW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8B8C51-070E-4934-A3AA-3BCC7C03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238500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3164B2"/>
                </a:solidFill>
              </a:defRPr>
            </a:pPr>
            <a:r>
              <a:rPr sz="2100" b="0" i="0">
                <a:solidFill>
                  <a:srgbClr val="3164B2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C1F963-F450-4B04-8D24-BDA57DE3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219450"/>
            <a:ext cx="16859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875" b="1" i="0">
                <a:solidFill>
                  <a:srgbClr val="3164B2"/>
                </a:solidFill>
              </a:defRPr>
            </a:pPr>
            <a:r>
              <a:rPr sz="1875" b="1" i="0">
                <a:solidFill>
                  <a:srgbClr val="3164B2"/>
                </a:solidFill>
              </a:rPr>
              <a:t>82.693 MW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AB3818-12C2-42E8-9D4C-534450DE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67150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5E6877"/>
                </a:solidFill>
              </a:defRPr>
            </a:pPr>
            <a:r>
              <a:rPr sz="1350" b="0" i="0">
                <a:solidFill>
                  <a:srgbClr val="5E6877"/>
                </a:solidFill>
              </a:rPr>
              <a:t>modellierte Spitzenlast  |  +10,24 %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B39D62-52B4-45D5-BB93-CE306788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91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8B5116-6245-4B02-8DEA-B580F1BD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48300"/>
            <a:ext cx="10439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02A4C"/>
                </a:solidFill>
              </a:defRPr>
            </a:pPr>
            <a:r>
              <a:rPr sz="1575" b="1" i="0">
                <a:solidFill>
                  <a:srgbClr val="102A4C"/>
                </a:solidFill>
              </a:rPr>
              <a:t>Der Extremzustandsindikator misst historische Quantilsüberschreitungen - keine Blackout- oder Netzausfallwahrscheinlichkeit.</a:t>
            </a:r>
          </a:p>
        </p:txBody>
      </p:sp>
    </p:spTree>
    <p:extLst>
      <p:ext uri="{BB962C8B-B14F-4D97-AF65-F5344CB8AC3E}">
        <p14:creationId xmlns:p14="http://schemas.microsoft.com/office/powerpoint/2010/main" val="17867548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C0EE39-5F2D-471F-B0C2-E29F9432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164B2"/>
                </a:solidFill>
              </a:defRPr>
            </a:pPr>
            <a:r>
              <a:rPr sz="975" b="1" i="0">
                <a:solidFill>
                  <a:srgbClr val="3164B2"/>
                </a:solidFill>
              </a:rPr>
              <a:t>K - BEREITSTELLUNG</a:t>
            </a:r>
          </a:p>
        </p:txBody>
      </p:sp>
      <p:sp>
        <p:nvSpPr>
          <p:cNvPr id="2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E7346EDF-CE62-4B36-9E7E-2BC56DB2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02A4C"/>
                </a:solidFill>
              </a:defRPr>
            </a:pPr>
            <a:r>
              <a:rPr sz="2850" b="1" i="0">
                <a:solidFill>
                  <a:srgbClr val="102A4C"/>
                </a:solidFill>
              </a:rPr>
              <a:t>Das finale Modell ist klein, geprüft und reproduzierbar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73A101-4BBA-4EB0-ABA4-13A47AFE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F3F9FF-FD45-48CA-97BE-43DA0288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828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E6877"/>
                </a:solidFill>
              </a:defRPr>
            </a:pPr>
            <a:r>
              <a:rPr sz="825" b="0" i="0">
                <a:solidFill>
                  <a:srgbClr val="5E6877"/>
                </a:solidFill>
              </a:rPr>
              <a:t>K  |  9/10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463FD6-1A46-446B-B430-9822E5AD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952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24C8B2-25F4-4FA7-80D7-9CAB4889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02A4C"/>
                </a:solidFill>
              </a:defRPr>
            </a:pPr>
            <a:r>
              <a:rPr sz="3225" b="1" i="0">
                <a:solidFill>
                  <a:srgbClr val="102A4C"/>
                </a:solidFill>
              </a:rPr>
              <a:t>1,9 MB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71C3F4-0580-4CE4-8879-531A9D89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877"/>
                </a:solidFill>
              </a:defRPr>
            </a:pPr>
            <a:r>
              <a:rPr sz="1275" b="0" i="0">
                <a:solidFill>
                  <a:srgbClr val="5E6877"/>
                </a:solidFill>
              </a:rPr>
              <a:t>versioniertes Deployment-Modell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073BF4-1FE5-45B8-B82C-85324D51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2952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C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83E8D3-0B65-40E8-9349-D525CE91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716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02A4C"/>
                </a:solidFill>
              </a:defRPr>
            </a:pPr>
            <a:r>
              <a:rPr sz="3225" b="1" i="0">
                <a:solidFill>
                  <a:srgbClr val="102A4C"/>
                </a:solidFill>
              </a:rPr>
              <a:t>11/11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0CF4C4-0674-4AB1-B1E8-E33626D7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431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877"/>
                </a:solidFill>
              </a:defRPr>
            </a:pPr>
            <a:r>
              <a:rPr sz="1275" b="0" i="0">
                <a:solidFill>
                  <a:srgbClr val="5E6877"/>
                </a:solidFill>
              </a:rPr>
              <a:t>Modell-, Szenario-, Risiko- und App-Tests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A6A95C-311B-4B1A-9A9D-914B25DF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19250"/>
            <a:ext cx="2952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C509D9-9A37-4F23-AB5A-F21715A9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716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02A4C"/>
                </a:solidFill>
              </a:defRPr>
            </a:pPr>
            <a:r>
              <a:rPr sz="3225" b="1" i="0">
                <a:solidFill>
                  <a:srgbClr val="102A4C"/>
                </a:solidFill>
              </a:rPr>
              <a:t>OK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AA03F2-465E-4415-BC1B-7BDE00C3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431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877"/>
                </a:solidFill>
              </a:defRPr>
            </a:pPr>
            <a:r>
              <a:rPr sz="1275" b="0" i="0">
                <a:solidFill>
                  <a:srgbClr val="5E6877"/>
                </a:solidFill>
              </a:rPr>
              <a:t>Streamlit-Server und Health-Endpunkt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6E9748-87A6-442F-8182-46356A78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8204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CBD2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47652F-4EAD-4A99-8866-4990FD76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195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164B2"/>
                </a:solidFill>
              </a:defRPr>
            </a:pPr>
            <a:r>
              <a:rPr sz="1050" b="1" i="0">
                <a:solidFill>
                  <a:srgbClr val="3164B2"/>
                </a:solidFill>
              </a:rPr>
              <a:t>DEPLOYMENT-KONFIGURATION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026BDF-2DD4-445E-B57C-71729DCC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38600"/>
            <a:ext cx="4286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1318"/>
                </a:solidFill>
              </a:defRPr>
            </a:pPr>
            <a:r>
              <a:rPr sz="1500" b="0" i="0">
                <a:solidFill>
                  <a:srgbClr val="101318"/>
                </a:solidFill>
              </a:rPr>
              <a:t>Repository  Tajan95/gridcast-europe</a:t>
            </a:r>
          </a:p>
          <a:p xmlns:a="http://schemas.openxmlformats.org/drawingml/2006/main">
            <a:pPr algn="l">
              <a:defRPr sz="1500" b="0" i="0">
                <a:solidFill>
                  <a:srgbClr val="101318"/>
                </a:solidFill>
              </a:defRPr>
            </a:pPr>
            <a:r>
              <a:rPr sz="1500" b="0" i="0">
                <a:solidFill>
                  <a:srgbClr val="101318"/>
                </a:solidFill>
              </a:rPr>
              <a:t>Branch       main</a:t>
            </a:r>
          </a:p>
          <a:p xmlns:a="http://schemas.openxmlformats.org/drawingml/2006/main">
            <a:pPr algn="l">
              <a:defRPr sz="1500" b="0" i="0">
                <a:solidFill>
                  <a:srgbClr val="101318"/>
                </a:solidFill>
              </a:defRPr>
            </a:pPr>
            <a:r>
              <a:rPr sz="1500" b="0" i="0">
                <a:solidFill>
                  <a:srgbClr val="101318"/>
                </a:solidFill>
              </a:rPr>
              <a:t>Entrypoint   streamlit_app/app.py</a:t>
            </a:r>
          </a:p>
          <a:p xmlns:a="http://schemas.openxmlformats.org/drawingml/2006/main">
            <a:pPr algn="l">
              <a:defRPr sz="1500" b="0" i="0">
                <a:solidFill>
                  <a:srgbClr val="101318"/>
                </a:solidFill>
              </a:defRPr>
            </a:pPr>
            <a:r>
              <a:rPr sz="1500" b="0" i="0">
                <a:solidFill>
                  <a:srgbClr val="101318"/>
                </a:solidFill>
              </a:rPr>
              <a:t>Python       3.12</a:t>
            </a:r>
          </a:p>
          <a:p xmlns:a="http://schemas.openxmlformats.org/drawingml/2006/main">
            <a:pPr algn="l">
              <a:defRPr sz="1500" b="0" i="0">
                <a:solidFill>
                  <a:srgbClr val="101318"/>
                </a:solidFill>
              </a:defRPr>
            </a:pPr>
            <a:r>
              <a:rPr sz="1500" b="0" i="0">
                <a:solidFill>
                  <a:srgbClr val="101318"/>
                </a:solidFill>
              </a:rPr>
              <a:t>Secrets      keine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534B00-21D2-4C6B-B7F7-BE116CF6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164B2"/>
                </a:solidFill>
              </a:defRPr>
            </a:pPr>
            <a:r>
              <a:rPr sz="1050" b="1" i="0">
                <a:solidFill>
                  <a:srgbClr val="3164B2"/>
                </a:solidFill>
              </a:rPr>
              <a:t>SHA-256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5F55F2-46F9-45B8-910D-FFBE42A5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3860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1318"/>
                </a:solidFill>
              </a:defRPr>
            </a:pPr>
            <a:r>
              <a:rPr sz="1500" b="0" i="0">
                <a:solidFill>
                  <a:srgbClr val="101318"/>
                </a:solidFill>
              </a:rPr>
              <a:t>61526739582848fb…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 i="0">
                <a:solidFill>
                  <a:srgbClr val="101318"/>
                </a:solidFill>
              </a:defRPr>
            </a:pPr>
            <a:r>
              <a:rPr sz="1500" b="0" i="0">
                <a:solidFill>
                  <a:srgbClr val="101318"/>
                </a:solidFill>
              </a:rPr>
              <a:t>Das Modell enthält Preprocessing,</a:t>
            </a:r>
          </a:p>
          <a:p xmlns:a="http://schemas.openxmlformats.org/drawingml/2006/main">
            <a:pPr algn="l">
              <a:defRPr sz="1500" b="0" i="0">
                <a:solidFill>
                  <a:srgbClr val="101318"/>
                </a:solidFill>
              </a:defRPr>
            </a:pPr>
            <a:r>
              <a:rPr sz="1500" b="0" i="0">
                <a:solidFill>
                  <a:srgbClr val="101318"/>
                </a:solidFill>
              </a:rPr>
              <a:t>Zielskalierung und HGB-Pipeline.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E67156-B9AF-41AC-83EA-EBDE512D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02A4C"/>
                </a:solidFill>
              </a:defRPr>
            </a:pPr>
            <a:r>
              <a:rPr sz="1650" b="1" i="0">
                <a:solidFill>
                  <a:srgbClr val="102A4C"/>
                </a:solidFill>
              </a:rPr>
              <a:t>Noch offen: einmalige Aktivierung in Streamlit Community Cloud.</a:t>
            </a:r>
          </a:p>
        </p:txBody>
      </p:sp>
    </p:spTree>
    <p:extLst>
      <p:ext uri="{BB962C8B-B14F-4D97-AF65-F5344CB8AC3E}">
        <p14:creationId xmlns:p14="http://schemas.microsoft.com/office/powerpoint/2010/main" val="1838791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32D3AB-E662-400A-856B-9407D9B7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164B2"/>
                </a:solidFill>
              </a:defRPr>
            </a:pPr>
            <a:r>
              <a:rPr sz="1050" b="1" i="0">
                <a:solidFill>
                  <a:srgbClr val="3164B2"/>
                </a:solidFill>
              </a:rPr>
              <a:t>ERGEBNIS</a:t>
            </a:r>
          </a:p>
        </p:txBody>
      </p:sp>
      <p:sp>
        <p:nvSpPr>
          <p:cNvPr id="2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2E15761C-8707-475E-81F4-C484D006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102A4C"/>
                </a:solidFill>
              </a:defRPr>
            </a:pPr>
            <a:r>
              <a:rPr sz="4050" b="1" i="0">
                <a:solidFill>
                  <a:srgbClr val="102A4C"/>
                </a:solidFill>
              </a:rPr>
              <a:t>GridCast liefert belastbare Evidenz</a:t>
            </a:r>
          </a:p>
          <a:p xmlns:a="http://schemas.openxmlformats.org/drawingml/2006/main">
            <a:pPr algn="l">
              <a:defRPr sz="4050" b="1" i="0">
                <a:solidFill>
                  <a:srgbClr val="102A4C"/>
                </a:solidFill>
              </a:defRPr>
            </a:pPr>
            <a:r>
              <a:rPr sz="4050" b="1" i="0">
                <a:solidFill>
                  <a:srgbClr val="102A4C"/>
                </a:solidFill>
              </a:rPr>
              <a:t>und ehrliche Szenarien.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35DD2F-BDCF-4563-9D61-9968C717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6705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3EBA2D-8656-4F84-81D3-A6AE6CF8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02A4C"/>
                </a:solidFill>
              </a:defRPr>
            </a:pPr>
            <a:r>
              <a:rPr sz="3450" b="1" i="0">
                <a:solidFill>
                  <a:srgbClr val="102A4C"/>
                </a:solidFill>
              </a:rPr>
              <a:t>2,71 %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6EA81F-8950-4B73-92E6-A254E9F1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6877"/>
                </a:solidFill>
              </a:defRPr>
            </a:pPr>
            <a:r>
              <a:rPr sz="1425" b="0" i="0">
                <a:solidFill>
                  <a:srgbClr val="5E6877"/>
                </a:solidFill>
              </a:rPr>
              <a:t>Makro-nMAE 2019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F3EBB8-CBB7-4B14-878E-1B446209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58140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02A4C"/>
                </a:solidFill>
              </a:defRPr>
            </a:pPr>
            <a:r>
              <a:rPr sz="3450" b="1" i="0">
                <a:solidFill>
                  <a:srgbClr val="102A4C"/>
                </a:solidFill>
              </a:rPr>
              <a:t>44,5 %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AA4779-A5A1-4313-A309-963FC9FE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91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6877"/>
                </a:solidFill>
              </a:defRPr>
            </a:pPr>
            <a:r>
              <a:rPr sz="1425" b="0" i="0">
                <a:solidFill>
                  <a:srgbClr val="5E6877"/>
                </a:solidFill>
              </a:rPr>
              <a:t>besser als Kalender-Baseline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72C23D-06C3-419E-97FD-4C9978C4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814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02A4C"/>
                </a:solidFill>
              </a:defRPr>
            </a:pPr>
            <a:r>
              <a:rPr sz="3450" b="1" i="0">
                <a:solidFill>
                  <a:srgbClr val="102A4C"/>
                </a:solidFill>
              </a:rPr>
              <a:t>DE · FR · PL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6D52F3-19E5-4E86-A268-4417DEA7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910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6877"/>
                </a:solidFill>
              </a:defRPr>
            </a:pPr>
            <a:r>
              <a:rPr sz="1425" b="0" i="0">
                <a:solidFill>
                  <a:srgbClr val="5E6877"/>
                </a:solidFill>
              </a:rPr>
              <a:t>modular erweiterbarer Scope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96D7F7-E27F-459D-A850-458803E5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0820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6737A9-6120-4510-9C70-17B000C6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10200"/>
            <a:ext cx="1013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02A4C"/>
                </a:solidFill>
              </a:defRPr>
            </a:pPr>
            <a:r>
              <a:rPr sz="1650" b="1" i="0">
                <a:solidFill>
                  <a:srgbClr val="102A4C"/>
                </a:solidFill>
              </a:rPr>
              <a:t>Kernaussage: Das Modell schlägt robuste Baselines - und die App kommuniziert klar, wo Prognose endet und Szenario beginnt.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4D5C70-D3C7-4E1D-9EC9-4D52797E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877"/>
                </a:solidFill>
              </a:defRPr>
            </a:pPr>
            <a:r>
              <a:rPr sz="825" b="0" i="0">
                <a:solidFill>
                  <a:srgbClr val="5E6877"/>
                </a:solidFill>
              </a:rPr>
              <a:t>Tajan Biazevic | 10234562</a:t>
            </a:r>
          </a:p>
        </p:txBody>
      </p:sp>
    </p:spTree>
    <p:extLst>
      <p:ext uri="{BB962C8B-B14F-4D97-AF65-F5344CB8AC3E}">
        <p14:creationId xmlns:p14="http://schemas.microsoft.com/office/powerpoint/2010/main" val="20142774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2026-07-25T18:50:44.5540000Z</dcterms:created>
  <dcterms:modified xsi:type="dcterms:W3CDTF">2026-07-25T18:50:44.5540000Z</dcterms:modified>
</coreProperties>
</file>